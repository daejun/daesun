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B3A3"/>
                </a:solidFill>
                <a:latin typeface="Noto Sans CJK KR"/>
              </a:rPr>
              <a:t>Industry Report · 2026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Noto Sans CJK KR"/>
              </a:rPr>
              <a:t>국내 소형가전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Noto Sans CJK KR"/>
              </a:rPr>
              <a:t>브랜드별 매출 근황 및 전략 시사점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Noto Sans CJK KR"/>
              </a:rPr>
              <a:t>2025 연간 실적 + 2026 1분기 동향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Noto Sans CJK KR"/>
              </a:rPr>
              <a:t>데이터: DART · 통계청 · KEA · 언론 공개자료    |    작성일 2026.05.10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발표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3350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093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3줄로 보는 시장의 핵심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92024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92024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19751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시장 개관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4942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규모·성장률·거시 환경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56032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56032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56032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61518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브랜드별 매출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88950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2025 실적 한눈에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20040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0040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20040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2552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카테고리별 트렌드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52958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청소·환경·주방·미용·계절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84048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84048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384048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389534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심층 인사이트 6가지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16966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구조적 변화 해석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48056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48056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48056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45354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2026 브랜드별 전망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80974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승자와 위험군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120640"/>
            <a:ext cx="640080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12064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5120640"/>
            <a:ext cx="877824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51755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핵심 메시지 &amp; Q&amp;A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449824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결론과 토론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한 장으로 보는 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49039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749039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D9534F"/>
                </a:solidFill>
                <a:latin typeface="Noto Sans CJK K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사업모델 &gt; 카테고리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3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렌탈·구독 보유 여부가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2025년 승패의 결정 변수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3200399" cy="36576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534F"/>
                </a:solidFill>
                <a:latin typeface="Noto Sans CJK KR"/>
              </a:rPr>
              <a:t>핵심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코웨이 +15.2%, 쿠쿠 +11.7%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vs 위닉스 적자전환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399" y="1280160"/>
            <a:ext cx="3749039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399" y="1280160"/>
            <a:ext cx="3749039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371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D9534F"/>
                </a:solidFill>
                <a:latin typeface="Noto Sans CJK K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799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중간 포지션의 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2194560"/>
            <a:ext cx="32003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양극화 가속으로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중가 국산 브랜드 구조 압박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19" y="4114800"/>
            <a:ext cx="3200399" cy="36576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42976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534F"/>
                </a:solidFill>
                <a:latin typeface="Noto Sans CJK KR"/>
              </a:rPr>
              <a:t>핵심 근거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46177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가성비(파세코·신일) ↔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프리미엄(다이슨·드롱기) 양극 성장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8" y="1280160"/>
            <a:ext cx="3749039" cy="47548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598" y="1280160"/>
            <a:ext cx="3749039" cy="6400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8" y="1371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D9534F"/>
                </a:solidFill>
                <a:latin typeface="Noto Sans CJK K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8" y="1371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차세대 격전지 3종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2194560"/>
            <a:ext cx="320039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로봇청소기·미용가전·계절가전이</a:t>
            </a:r>
          </a:p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2026 점유율 재편 결정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18" y="4114800"/>
            <a:ext cx="3200399" cy="36576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8" y="4297680"/>
            <a:ext cx="3200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534F"/>
                </a:solidFill>
                <a:latin typeface="Noto Sans CJK KR"/>
              </a:rPr>
              <a:t>핵심 근거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4617720"/>
            <a:ext cx="32003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로보락 46% · 다이슨 미용 확장</a:t>
            </a:r>
          </a:p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· 폭염 베이스 상향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01. 시장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국내 소형가전 시장 규모와 거시 환경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14630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E5C8A"/>
                </a:solidFill>
                <a:latin typeface="Noto Sans CJK KR"/>
              </a:rPr>
              <a:t>125억$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2025년 국내 가전 시장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43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91440" cy="1463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371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E8B57"/>
                </a:solidFill>
                <a:latin typeface="Noto Sans CJK KR"/>
              </a:rPr>
              <a:t>CAGR 2.48%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2034년까지 성장률 전망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91440" cy="14630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9534F"/>
                </a:solidFill>
                <a:latin typeface="Noto Sans CJK KR"/>
              </a:rPr>
              <a:t>+1.2%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2025 소매시장 YoY (521조)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743200" cy="1463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88720"/>
            <a:ext cx="91440" cy="1463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371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Noto Sans CJK KR"/>
              </a:rPr>
              <a:t>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574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2026 민간소비 성장 전망 (KDI)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Noto Sans CJK KR"/>
              </a:rPr>
              <a:t>■ 시장을 움직이는 3대 흐름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137160" cy="7772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290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1인 가구 증가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67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소형·세컨드가전 수요 구조적 확대. 2030년 1인 가구 비중 35% 전망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37160" cy="7772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프리미엄/가성비 양극화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817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중간 가격대 시장 잠식, 양 끝 카테고리만 성장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137160" cy="7772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중국 브랜드 침투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96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로보락(로봇청소기 46%) 시작으로 무선·소형가전 전반 확장 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02. 브랜드별 매출 현황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공시·언론 발표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8872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1188720"/>
            <a:ext cx="15544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188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브랜드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0116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887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매출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188720"/>
            <a:ext cx="91440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1887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155448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88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영업이익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188720"/>
            <a:ext cx="4023360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18872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특징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69164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6916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렌탈/종합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1691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1691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코웨이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169164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6916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4조 9,636억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169164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16916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Noto Sans CJK KR"/>
              </a:rPr>
              <a:t>+15.2%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691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6916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8,787억 (+10.5%)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169164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169164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Noto Sans CJK KR"/>
              </a:rPr>
              <a:t>★ 사상 최대, 비렉스 침대·얼음정수기 견인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194560"/>
            <a:ext cx="118872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1945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렌탈/종합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219456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2194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쿠쿠홈시스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19456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2194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1조 572억 (24년)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194560"/>
            <a:ext cx="91440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21945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Noto Sans CJK KR"/>
              </a:rPr>
              <a:t>+10.8%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19456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1945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1,648억 / 25H1 +26%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194560"/>
            <a:ext cx="402336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6680" y="219456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Noto Sans CJK KR"/>
              </a:rPr>
              <a:t>뷰티·식음료·로봇 신사업 확장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69748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계절가전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269748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2697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신일전자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26974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26974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1,939억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26974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269748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Noto Sans CJK KR"/>
              </a:rPr>
              <a:t>+9.0%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269748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26974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52억 (+30%)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269748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269748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Noto Sans CJK KR"/>
              </a:rPr>
              <a:t>선풍기·히터 회복, 흑자 견조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00400"/>
            <a:ext cx="118872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20040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계절가전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45920" y="320040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45920" y="32004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파세코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20040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32004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1,679억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3200400"/>
            <a:ext cx="91440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0" y="32004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8B57"/>
                </a:solidFill>
                <a:latin typeface="Noto Sans CJK KR"/>
              </a:rPr>
              <a:t>+6.4%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320040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32004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33억 (흑자전환)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200400"/>
            <a:ext cx="402336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26680" y="320040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Noto Sans CJK KR"/>
              </a:rPr>
              <a:t>창문형 에어컨이 견인, V자 회복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환경가전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5920" y="37033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5920" y="37033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위닉스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37033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0" y="3703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25 1Q -1.6%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12080" y="37033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0" y="370332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Noto Sans CJK KR"/>
              </a:rPr>
              <a:t>부진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37033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37033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적자전환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80960" y="3703320"/>
            <a:ext cx="4023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26680" y="370332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Noto Sans CJK KR"/>
              </a:rPr>
              <a:t>▼ 공기청정기 수요 둔화, 구조 전환 압박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206240"/>
            <a:ext cx="118872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20624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대기업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0" y="420624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45920" y="42062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삼성·LG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4206240"/>
            <a:ext cx="20116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42062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별도 미공시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12080" y="4206240"/>
            <a:ext cx="91440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2080" y="420624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E5C8A"/>
                </a:solidFill>
                <a:latin typeface="Noto Sans CJK KR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26480" y="4206240"/>
            <a:ext cx="155448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26480" y="42062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CJK KR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80960" y="4206240"/>
            <a:ext cx="4023360" cy="5029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26680" y="420624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Noto Sans CJK KR"/>
              </a:rPr>
              <a:t>무선청소기 70%+ 점유, 로봇청소기 추격 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9534F"/>
                </a:solidFill>
                <a:latin typeface="Noto Sans CJK KR"/>
              </a:rPr>
              <a:t>▍ Insight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동일한 환경가전 카테고리에서도 렌탈 모델(코웨이·쿠쿠) → 사상 최대,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일시불 모델(위닉스) → 적자전환. 매출 차이의 본질은 카테고리가 아닌 사업모델.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03. 카테고리 트렌드 — 청소기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검색량 1위 카테고리 (연 420만 회) — 무선·로봇 양분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무선청소기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삼성·LG 합산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70%+ 점유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다이슨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60%+ → 10%대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5년 만에 추락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로봇청소기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시장 6,708억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+42.4% 성장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Noto Sans CJK KR"/>
              </a:rPr>
              <a:t>▍ 카테고리 시사점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로보락 46% · 삼성 22% · LG 9% — 중국 브랜드가 한국 안방 장악, 프리미엄 시장도 70% 독주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삼성·LG, CES 2026에서 2세대 신제품으로 정면승부 예정 — 2026 점유율 재편 변수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다이슨의 무선청소기 몰락은 "프리미엄 외산 = 안전" 공식의 종말을 의미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03. 카테고리 트렌드 — 환경가전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공기청정기·정수기·가습기 — 렌탈 강자만 살아남는 시장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정수기 (렌탈)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코웨이 사상 최대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비렉스 동반 성장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공기청정기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위닉스 1Q 적자전환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교체 사이클 정체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가습기 (검색 331만)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검색 vs 매출 갭 큼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신규 진입 공백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Noto Sans CJK KR"/>
              </a:rPr>
              <a:t>▍ 카테고리 시사점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정수기 시장은 렌탈·구독으로 지속 성장, 공기청정기는 미세먼지 이슈 둔화로 정체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가습기는 검색량(331만)이 정수기(212만) 대비 56% 큰데도 산업계 관심 부족 → 미공급 수요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안전·자가소독 강조한 프리미엄 가습기 신제품에 기회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03. 카테고리 트렌드 — 주방·미용가전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프리미엄 외산 vs 가성비 국산 양극화 격전지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커피머신·에어프라이어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드롱기·필립스·발뮤다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프리미엄 입지 확대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헤어드라이어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유닉스 40% · JMW 16%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다이슨 11% (단일 모델)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다이슨 미용가전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단일 모델로 5%→11%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2026 라인업 대폭 확장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Noto Sans CJK KR"/>
              </a:rPr>
              <a:t>▍ 카테고리 시사점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미용가전은 객단가 40~50만원·교체주기 2~3년·SNS ROI 최고 → 마케팅 효율 가전 카테고리 최상위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다이슨이 청소기에서의 패배를 미용가전·라이프스타일 가전에서 만회하려는 전략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LG 프라엘·삼성 진입 가시화 — 2010년대 후반 청소기 시장과 유사한 구조적 재편기 진입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03. 카테고리 트렌드 — 계절가전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기후 변화의 구조적 수혜 카테고리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창문형 에어컨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파세코 매출 1,679억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영업이익 흑자전환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선풍기·히터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신일 매출 +9%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영업이익 +30%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기후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2880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한반도 폭염일수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Noto Sans CJK KR"/>
              </a:rPr>
              <a:t>5년 평균 +28%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Noto Sans CJK KR"/>
              </a:rPr>
              <a:t>▍ 카테고리 시사점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단순 회복이 아닌 폭염·한파 빈도 증가에 따른 베이스 매출 영구 상향 이동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2026~2027년 창문형/이동식 에어컨, 서큘레이터 카테고리 두 자릿수 성장 지속 가능성 높음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• 종합 가전사도 계절 라인 강화 필요 — 단순 시즌 대응이 아닌 상시 R&amp;D 투자 카테고리로 격상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사업모델이 카테고리 점유율보다 강력한 변수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렌탈 모델 보유 여부가 2025년 가전사 승패를 갈랐다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코웨이 매출 +15.2%, 영업이익 +10.5% → 사상 최대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쿠쿠홈시스 상반기 매출 +11.7%, 영업이익 +26.3%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위닉스 1Q 매출 -1.6%, 영업이익 적자전환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→ 동일 환경가전 카테고리, 동일 시장 환경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→ 차이는 "렌탈/구독 보유" 여부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가전 시장 둔화의 본질은 수요 감소가 아니라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5~7년 교체 사이클의 함정.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일시불 모델 가전사는 셋 중 하나 필수: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① 구독·케어 서비스 도입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② 소모품 (필터·캡슐) Lock-in 확대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③ 신제품 카니발리제이션으로 주기 단축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다이슨의 몰락은 모든 프리미엄 브랜드에 보내는 경고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"프리미엄 = 서구 브랜드" 공식이 5년 만에 무너졌다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다이슨 무선청소기 60%+ → 10%대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같은 자리에 삼성·LG 70%+ + 로보락 46%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한국 소비자 결정 기준 변화: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AS·생태계·기술 스펙이 "브랜드 출신지" 위로 이동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삼성·LG도 안전지대 없음: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CES 2026 로봇청소기 2세대로 로보락 못 잡으면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다이슨 전철 — 핵심은 라이다·AI 흡입 알고리즘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중견 국내사도 "국산 프리미엄" 포지션 위험.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가성비 또는 초프리미엄(렌탈+케어)으로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양극 이동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중간 가격대 국산 브랜드가 구조적으로 가장 위험하다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양극화는 트렌드가 아닌 채널 변화의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카테고리별 승자 패턴: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가성비: 파세코·신일·쿠팡 PB → 흑자전환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프리미엄: 다이슨·드롱기·발뮤다 → 점유 확대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중간(위닉스급): 양쪽에서 압박 → 적자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채널 변화: 쿠팡·라방이 가격 비교 극단화,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하이엔드몰이 프리미엄 분리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위닉스급 중견 환경가전 향후 2~3년 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3가지 의사결정 압박: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① 렌탈 전환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② M&amp;A 매각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③ 카테고리 피벗 (B2B·시니어 케어)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잠재 인수자: PEF, 코웨이·SK매직 같은 전략적 인수자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계절가전 흑자전환은 회복이 아닌 "기후 구조 수혜"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폭염·한파는 영구적 베이스 상향 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파세코 (창문형 에어컨): 168억 적자 → 33억 흑자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신일전자 (선풍기·히터): 영업이익 +30%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동기간 환경·주방가전 부진과 명확히 대비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한반도 폭염일수 5년 평균 +28% 증가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(★ 기상청 데이터 별도 검증 권장)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2026~2027년 두 자릿수 성장 지속 카테고리: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• 창문형/이동식 에어컨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• 서큘레이터·고출력 선풍기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• 절전형 히터·전기요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종합 가전사도 시즌 대응이 아닌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상시 R&amp;D 투자 카테고리로 격상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검색량과 매출 사이 갭에 미공급 수요가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산업계 관심과 소비자 수요의 괴리를 읽어라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카테고리별 연간 검색량 (어센트코리아):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청소기 420만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가습기 331만 ← 정수기보다 56% 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에어프라이어 277만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- 정수기 212만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산업계 R&amp;D·렌탈 마케팅은 정수기에 집중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가습기: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2011 가습기 살균제 트라우마로 산업 위축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→ 안전·자가소독 강조 프리미엄 신제품 기회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에어프라이어: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단품 시장 포화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→ 오븐·전자레인지 결합형 통합 트렌드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→ 멀티쿠커 2.0 카테고리 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04. 심층 인사이트 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미용가전 = 차세대 격전지로 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13716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객단가·교체주기·SNS ROI 최상위 카테고리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EVIDENCE ·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다이슨 미용가전 단일 모델 점유율 5% → 11% (2배)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다이슨 2026 라인업 대폭 확장: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로봇청소기·여행용 드라이어·손선풍기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LG 프라엘·삼성 진입 시점 임박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객단가 40~50만원, 교체주기 2~3년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채널: 백화점 → 라방·올리브영 이동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926080"/>
            <a:ext cx="5486400" cy="3383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IMPLICATION · 전략 시사점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2026~2027년 청소기 시장의 2010년대 재현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→ 구조적 점유율 재편기 진입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마케팅 ROI 가전 카테고리 중 최상위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  → SNS·인플루언서 전략 필수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• 진입 장벽 낮음 → 신규 D2C 브랜드 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05. 2026년 브랜드별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승자·관전·위험군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승자 (확실)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코웨이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매출 5조 돌파 확실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가이던스 5.28~5.45조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쿠쿠홈시스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두 자릿수 성장 지속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신사업 가시화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신일·파세코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계절가전 호조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폭염 강도가 변수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399" y="1188720"/>
            <a:ext cx="3749039" cy="50292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118872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관전 (변수 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399" y="178308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187452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삼성·LG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22402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무선 방어 / 로봇 추격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2743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CES 2026 신제품 반응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399" y="329184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79" y="338328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로보락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374904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점유율 50%대 유지 관건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2519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한·중 정면승부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399" y="480060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79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다이슨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525780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미용가전으로 반등 시도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57607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신제품 SNS 화제성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8" y="1188720"/>
            <a:ext cx="3749039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8" y="118872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위험 (구조 전환 필요)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8" y="178308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8" y="187452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위닉스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8" y="224028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M&amp;A·구조조정 압박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8" y="274320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1H 회복 시그널 관건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598" y="329184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8" y="338328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중간 가격대 환경가전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8" y="374904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전반적 구조 위험군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8" y="42519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양극 이동 필요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8" y="4800600"/>
            <a:ext cx="3749039" cy="1417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8" y="4892040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중간 가격대 주방가전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8" y="5257800"/>
            <a:ext cx="3383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양극화 압박 가속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8" y="576072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Noto Sans CJK KR"/>
              </a:rPr>
              <a:t>▸ 프리미엄/가성비 양자택일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06. 핵심 메시지 3줄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Take this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914400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9144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D9534F"/>
                </a:solidFill>
                <a:latin typeface="Noto Sans CJK K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188720"/>
            <a:ext cx="1033272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3258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사업모델이 카테고리보다 우선한다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28800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렌탈·구독 보유 여부가 2025년 승패를 갈랐고, 2026년에도 동일 결정 변수.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카테고리 선정보다 비즈니스 모델 전환이 더 시급한 어젠다.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914400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9144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D9534F"/>
                </a:solidFill>
                <a:latin typeface="Noto Sans CJK KR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880360"/>
            <a:ext cx="1033272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0175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중간 포지션이 가장 위험하다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20440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양극화 가속으로 중가 국산 환경·주방가전은 향후 2년 내 전략 결정 압박.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위로 (프리미엄+케어) 또는 아래로 (가성비+볼륨) 이동 필수.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914400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91440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D9534F"/>
                </a:solidFill>
                <a:latin typeface="Noto Sans CJK KR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572000"/>
            <a:ext cx="10332720" cy="15544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7091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KR"/>
              </a:rPr>
              <a:t>차기 격전지는 로봇청소기·미용가전·계절가전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212080"/>
            <a:ext cx="9875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이 셋이 2026년 가전 산업의 점유율 재편을 결정.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Noto Sans CJK KR"/>
              </a:rPr>
              <a:t>투자·신제품·M&amp;A 우선순위를 이 세 카테고리에 집중해야 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07. 데이터 출처 및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Noto Sans CJK KR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KR"/>
              </a:rPr>
              <a:t>■ 주요 1차 데이터 출처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DART 전자공시 — 코웨이·쿠쿠홈시스·위닉스·신일전자·파세코 분기/사업보고서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코웨이 IR 보도자료 911호 (2026.2 발표 2025년 경영실적)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통계청 KOSIS 소매판매액지수 / e-나라지표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3230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KDI 2026년 2월 경제전망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한국전자정보통신산업진흥회 (KEA) 가전산업 통계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Mordor Intelligence — 한국 소형가전 시장 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언론: 머니투데이, 전자신문, 글로벌이코노믹, 뉴스1, 한국경제, 헤럴드경제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0273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• 어센트코리아 — 카테고리별 검색량 리포트 (브랜드브리프 인용)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Noto Sans CJK KR"/>
              </a:rPr>
              <a:t>■ 본 보고서의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• 비상장 외국법인(다이슨·드롱기·발뮤다·로보락) 한국 매출은 추정치 포함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731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• 카테고리별 정밀 점유율은 GfK Korea·닐슨IQ 유료 데이터 추가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6577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Noto Sans CJK KR"/>
              </a:rPr>
              <a:t>• 2026년 브랜드별 전망은 가이던스 외에는 정성 분석 기반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KR"/>
              </a:rPr>
              <a:t>Q &amp; A    감사합니다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CJK KR"/>
              </a:rPr>
              <a:t>국내 소형가전 브랜드별 매출 근황 | 2026.05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Noto Sans CJK KR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